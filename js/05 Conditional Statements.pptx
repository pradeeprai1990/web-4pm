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313" r:id="rId3"/>
    <p:sldId id="308" r:id="rId4"/>
    <p:sldId id="324" r:id="rId5"/>
    <p:sldId id="314" r:id="rId6"/>
    <p:sldId id="325" r:id="rId7"/>
    <p:sldId id="326" r:id="rId8"/>
    <p:sldId id="278" r:id="rId9"/>
  </p:sldIdLst>
  <p:sldSz cx="51127025" cy="288036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exend Deca" pitchFamily="2" charset="0"/>
      <p:regular r:id="rId15"/>
      <p:bold r:id="rId16"/>
    </p:embeddedFont>
    <p:embeddedFont>
      <p:font typeface="Muli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0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037"/>
    <a:srgbClr val="5A28C8"/>
    <a:srgbClr val="D20B8C"/>
    <a:srgbClr val="1E9F9F"/>
    <a:srgbClr val="21272F"/>
    <a:srgbClr val="11C2BA"/>
    <a:srgbClr val="F75431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0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52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3681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2728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42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-1565366" y="6960326"/>
            <a:ext cx="32004000" cy="1266685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5200" dirty="0">
                <a:latin typeface="Lexend Deca" pitchFamily="2" charset="0"/>
              </a:rPr>
              <a:t>JavaScript</a:t>
            </a:r>
            <a:br>
              <a:rPr lang="en-US" sz="25200" dirty="0">
                <a:latin typeface="Lexend Deca\"/>
              </a:rPr>
            </a:br>
            <a:r>
              <a:rPr lang="en-US" sz="25200" dirty="0">
                <a:latin typeface="Lexend Deca\"/>
              </a:rPr>
              <a:t> (</a:t>
            </a:r>
            <a:r>
              <a:rPr lang="en-US" sz="25200" b="1" dirty="0">
                <a:solidFill>
                  <a:schemeClr val="bg1"/>
                </a:solidFill>
                <a:latin typeface="Lexend Deca\"/>
              </a:rPr>
              <a:t>conditional statements)</a:t>
            </a:r>
            <a:endParaRPr lang="en-US" sz="25200" dirty="0">
              <a:latin typeface="Lexend Deca\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8576827" cy="2157574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Lexend Deca\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2C67B54-605C-02B4-AC8B-D1134EA52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3533" y="11082595"/>
            <a:ext cx="9587547" cy="656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935861" y="115271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23900" dirty="0">
                <a:solidFill>
                  <a:schemeClr val="bg1"/>
                </a:solidFill>
                <a:latin typeface="Lexend Deca" panose="020B0604020202020204" charset="0"/>
              </a:rPr>
              <a:t>Our Agenda.</a:t>
            </a:r>
            <a:endParaRPr lang="en-IN" sz="59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3108961" y="17906774"/>
            <a:ext cx="12618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9600" cap="none" spc="0" dirty="0">
                <a:ln w="0"/>
                <a:solidFill>
                  <a:schemeClr val="tx1"/>
                </a:solidFill>
                <a:latin typeface="Lexend Deca" panose="020B0604020202020204" charset="0"/>
              </a:rPr>
              <a:t>What are conditional statements ?	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6398252" y="612904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CBEC5-31AF-D227-AC27-4C6CDFDD73E1}"/>
              </a:ext>
            </a:extLst>
          </p:cNvPr>
          <p:cNvGrpSpPr/>
          <p:nvPr/>
        </p:nvGrpSpPr>
        <p:grpSpPr>
          <a:xfrm>
            <a:off x="22937478" y="6258848"/>
            <a:ext cx="5036169" cy="13947263"/>
            <a:chOff x="28227028" y="6213128"/>
            <a:chExt cx="5036169" cy="1394726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4441266-6C8B-1D87-903D-E9A7331B113F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40" name="Freeform 36">
                <a:extLst>
                  <a:ext uri="{FF2B5EF4-FFF2-40B4-BE49-F238E27FC236}">
                    <a16:creationId xmlns:a16="http://schemas.microsoft.com/office/drawing/2014/main" id="{15214F91-C599-B05E-56FD-EC9E47B21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30FB41BF-0635-4848-A40B-A0748E94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48C9D729-AB91-B484-9056-D4BBD730A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E43DBC-6E01-A450-92AF-C8A624BA2F3A}"/>
                </a:ext>
              </a:extLst>
            </p:cNvPr>
            <p:cNvGrpSpPr/>
            <p:nvPr/>
          </p:nvGrpSpPr>
          <p:grpSpPr>
            <a:xfrm>
              <a:off x="28227028" y="6213128"/>
              <a:ext cx="5036169" cy="5043942"/>
              <a:chOff x="9740908" y="6380768"/>
              <a:chExt cx="5036169" cy="504394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EE1409-BBE9-8CA9-4C8D-6030D599123C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1D8675-FCBE-0FB1-C222-6D7CD88F585C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BF025D-51B6-A3C6-211E-5E73802D2423}"/>
                </a:ext>
              </a:extLst>
            </p:cNvPr>
            <p:cNvGrpSpPr/>
            <p:nvPr/>
          </p:nvGrpSpPr>
          <p:grpSpPr>
            <a:xfrm>
              <a:off x="29917214" y="7930105"/>
              <a:ext cx="1644882" cy="12230286"/>
              <a:chOff x="11476814" y="8206554"/>
              <a:chExt cx="1644882" cy="1223028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73AABC9-4592-8EE8-203B-396D0FCC6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220670-4389-9C99-FA44-8110E6EE6A1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26" name="Freeform 36">
                  <a:extLst>
                    <a:ext uri="{FF2B5EF4-FFF2-40B4-BE49-F238E27FC236}">
                      <a16:creationId xmlns:a16="http://schemas.microsoft.com/office/drawing/2014/main" id="{4EFD1256-10E6-3F78-545D-5058E2B55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7" name="Freeform 37">
                  <a:extLst>
                    <a:ext uri="{FF2B5EF4-FFF2-40B4-BE49-F238E27FC236}">
                      <a16:creationId xmlns:a16="http://schemas.microsoft.com/office/drawing/2014/main" id="{04A75D6D-614E-0E8C-4F2B-48200A817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8" name="Freeform 38">
                  <a:extLst>
                    <a:ext uri="{FF2B5EF4-FFF2-40B4-BE49-F238E27FC236}">
                      <a16:creationId xmlns:a16="http://schemas.microsoft.com/office/drawing/2014/main" id="{714CB9C1-9783-015E-5203-9CE77F8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0839F32-6AEB-449D-6A13-07C6068C7ECF}"/>
              </a:ext>
            </a:extLst>
          </p:cNvPr>
          <p:cNvSpPr txBox="1"/>
          <p:nvPr/>
        </p:nvSpPr>
        <p:spPr>
          <a:xfrm>
            <a:off x="18824734" y="21274814"/>
            <a:ext cx="13261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96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 Deca" panose="020B0604020202020204" charset="0"/>
              </a:rPr>
              <a:t>Types of conditional statements in </a:t>
            </a:r>
            <a:r>
              <a:rPr lang="en-IN" sz="9600" b="0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 Deca" panose="020B0604020202020204" charset="0"/>
              </a:rPr>
              <a:t>Js</a:t>
            </a:r>
            <a:r>
              <a:rPr lang="en-IN" sz="96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 Deca" panose="020B0604020202020204" charset="0"/>
              </a:rPr>
              <a:t>.</a:t>
            </a:r>
            <a:endParaRPr lang="en-IN" sz="2400" dirty="0">
              <a:solidFill>
                <a:srgbClr val="C00000"/>
              </a:solidFill>
              <a:latin typeface="Lexend Deca" panose="020B060402020202020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FB8025-781D-116A-9FF9-CFAF04E04D21}"/>
              </a:ext>
            </a:extLst>
          </p:cNvPr>
          <p:cNvGrpSpPr/>
          <p:nvPr/>
        </p:nvGrpSpPr>
        <p:grpSpPr>
          <a:xfrm>
            <a:off x="38295572" y="6113809"/>
            <a:ext cx="5036169" cy="10634952"/>
            <a:chOff x="7175492" y="8232168"/>
            <a:chExt cx="5036169" cy="1085220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ADCDBB-1E6D-08A2-E750-10FA222CA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D2D51B-95D7-E791-F94B-EC62ED7CAACC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077487-807F-63DB-6098-2810215D637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710B115-8435-FF1B-488C-A881D544D340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61" name="Freeform 36">
                <a:extLst>
                  <a:ext uri="{FF2B5EF4-FFF2-40B4-BE49-F238E27FC236}">
                    <a16:creationId xmlns:a16="http://schemas.microsoft.com/office/drawing/2014/main" id="{C4D6D400-EAAB-897B-3BDA-426E2A57A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2" name="Freeform 37">
                <a:extLst>
                  <a:ext uri="{FF2B5EF4-FFF2-40B4-BE49-F238E27FC236}">
                    <a16:creationId xmlns:a16="http://schemas.microsoft.com/office/drawing/2014/main" id="{DE3A1CB4-96DB-6361-E527-93736911E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E73450AD-AD83-D50E-BF15-4204322F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0308D55-1FB3-D304-E266-8238D519A7A8}"/>
              </a:ext>
            </a:extLst>
          </p:cNvPr>
          <p:cNvSpPr txBox="1"/>
          <p:nvPr/>
        </p:nvSpPr>
        <p:spPr>
          <a:xfrm>
            <a:off x="35463480" y="18363974"/>
            <a:ext cx="117195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9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 Deca" panose="020B0604020202020204" charset="0"/>
              </a:rPr>
              <a:t>Examples of each type.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5354504-D7A7-656C-CE4E-619EC1191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5804374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0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937760"/>
            <a:ext cx="51180020" cy="2386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0"/>
            <a:r>
              <a:rPr lang="en-IN" sz="800">
                <a:solidFill>
                  <a:srgbClr val="FF0000"/>
                </a:solidFill>
                <a:latin typeface="Lexend Deca" pitchFamily="2" charset="0"/>
              </a:rPr>
              <a:t>Operator.</a:t>
            </a:r>
            <a:endParaRPr lang="en-IN" sz="800" dirty="0">
              <a:solidFill>
                <a:srgbClr val="FF0000"/>
              </a:solidFill>
              <a:latin typeface="Lexend Deca" pitchFamily="2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763660" y="558350"/>
            <a:ext cx="4088726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US" sz="16600" b="1" dirty="0">
                <a:solidFill>
                  <a:schemeClr val="bg1"/>
                </a:solidFill>
                <a:latin typeface="Lexend Deca" pitchFamily="2" charset="0"/>
              </a:rPr>
              <a:t>What are conditional statements?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itchFamily="2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848009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itchFamily="2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BCF30-38A8-F0F1-7A8B-CA26721008ED}"/>
              </a:ext>
            </a:extLst>
          </p:cNvPr>
          <p:cNvSpPr/>
          <p:nvPr/>
        </p:nvSpPr>
        <p:spPr>
          <a:xfrm>
            <a:off x="3177221" y="5774135"/>
            <a:ext cx="42281521" cy="1709928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0" indent="-1143000">
              <a:buClrTx/>
              <a:buFont typeface="Arial" panose="020B0604020202020204" pitchFamily="34" charset="0"/>
              <a:buChar char="•"/>
            </a:pPr>
            <a:r>
              <a:rPr lang="en-IN" sz="13800" b="1" dirty="0">
                <a:solidFill>
                  <a:schemeClr val="tx1"/>
                </a:solidFill>
                <a:latin typeface="Lexend Deca" pitchFamily="2" charset="0"/>
              </a:rPr>
              <a:t>Conditional statements (control statements) are used to change the flow of the program’s execution.</a:t>
            </a:r>
          </a:p>
          <a:p>
            <a:pPr marL="1143000" indent="-1143000">
              <a:buClrTx/>
              <a:buFont typeface="Arial" panose="020B0604020202020204" pitchFamily="34" charset="0"/>
              <a:buChar char="•"/>
            </a:pPr>
            <a:endParaRPr lang="en-IN" sz="13800" b="1" dirty="0">
              <a:solidFill>
                <a:schemeClr val="tx1"/>
              </a:solidFill>
              <a:latin typeface="Lexend Deca" pitchFamily="2" charset="0"/>
            </a:endParaRPr>
          </a:p>
          <a:p>
            <a:pPr marL="1143000" indent="-1143000">
              <a:buClrTx/>
              <a:buFont typeface="Arial" panose="020B0604020202020204" pitchFamily="34" charset="0"/>
              <a:buChar char="•"/>
            </a:pPr>
            <a:r>
              <a:rPr lang="en-IN" sz="13800" b="1" dirty="0">
                <a:solidFill>
                  <a:schemeClr val="tx1"/>
                </a:solidFill>
                <a:latin typeface="Lexend Deca" pitchFamily="2" charset="0"/>
              </a:rPr>
              <a:t>Two possible cases, either true or false.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1D83FD9-1471-C7C4-C2A0-274786DE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5804374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861951" y="1645920"/>
            <a:ext cx="35883704" cy="426093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Types of conditional statements in JavaScript.</a:t>
            </a:r>
            <a:endParaRPr lang="en-IN" sz="138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5061109" y="18043934"/>
            <a:ext cx="82434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3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xend Deca" panose="020B0604020202020204" charset="0"/>
              </a:rPr>
              <a:t>if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6581132" y="622048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D6F417-6717-8E01-ED67-257DF0466E80}"/>
              </a:ext>
            </a:extLst>
          </p:cNvPr>
          <p:cNvGrpSpPr/>
          <p:nvPr/>
        </p:nvGrpSpPr>
        <p:grpSpPr>
          <a:xfrm>
            <a:off x="22937478" y="6380768"/>
            <a:ext cx="5036169" cy="13873192"/>
            <a:chOff x="10609588" y="6197888"/>
            <a:chExt cx="5036169" cy="1387319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993B42E-129C-A81E-5D3B-B5EEC2FA41B1}"/>
                </a:ext>
              </a:extLst>
            </p:cNvPr>
            <p:cNvGrpSpPr/>
            <p:nvPr/>
          </p:nvGrpSpPr>
          <p:grpSpPr>
            <a:xfrm>
              <a:off x="10609588" y="6197888"/>
              <a:ext cx="5036169" cy="5043942"/>
              <a:chOff x="9740908" y="6380768"/>
              <a:chExt cx="5036169" cy="5043942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0DD020E-2A96-AA90-BD2E-A923B14F1535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FCFCA8D-4C32-EBF2-68F1-644CA7C3EBD0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C1F4692-A321-C5F1-5ABB-FE09CA5C2820}"/>
                </a:ext>
              </a:extLst>
            </p:cNvPr>
            <p:cNvGrpSpPr/>
            <p:nvPr/>
          </p:nvGrpSpPr>
          <p:grpSpPr>
            <a:xfrm>
              <a:off x="12299774" y="7840794"/>
              <a:ext cx="1644882" cy="12230286"/>
              <a:chOff x="11476814" y="8206554"/>
              <a:chExt cx="1644882" cy="12230286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EB77D30-991B-43FB-FD62-B3BF001DD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57839CA-EEF2-69D1-683E-CA35D5551CA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35" name="Freeform 36">
                  <a:extLst>
                    <a:ext uri="{FF2B5EF4-FFF2-40B4-BE49-F238E27FC236}">
                      <a16:creationId xmlns:a16="http://schemas.microsoft.com/office/drawing/2014/main" id="{76B45748-F3B2-7EA8-5C40-39E5E7B11F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19CCE62-0990-3AA8-0A63-45CB35DDE3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29AB37A4-2529-7E80-1BD4-1C971754D4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</p:grpSp>
        </p:grpSp>
      </p:grpSp>
      <p:sp>
        <p:nvSpPr>
          <p:cNvPr id="44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1249331" y="21204793"/>
            <a:ext cx="813815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13800" dirty="0">
                <a:solidFill>
                  <a:srgbClr val="C00000"/>
                </a:solidFill>
                <a:latin typeface="Lexend Deca" panose="020B0604020202020204" charset="0"/>
              </a:rPr>
              <a:t>If- else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032A2D-D808-7740-5659-147616F1606B}"/>
              </a:ext>
            </a:extLst>
          </p:cNvPr>
          <p:cNvGrpSpPr/>
          <p:nvPr/>
        </p:nvGrpSpPr>
        <p:grpSpPr>
          <a:xfrm>
            <a:off x="39469052" y="6144289"/>
            <a:ext cx="5036169" cy="10634952"/>
            <a:chOff x="7175492" y="8232168"/>
            <a:chExt cx="5036169" cy="1085220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CA9DFF-2A49-4825-CEE7-EE5838FEF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BCA4004-B1BC-E0C7-9951-ABB039573F84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644C626-D668-9A8D-A6B5-C944F2A30576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ED96261-BC7A-D1EB-1668-74B72CCF0A32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51" name="Freeform 36">
                <a:extLst>
                  <a:ext uri="{FF2B5EF4-FFF2-40B4-BE49-F238E27FC236}">
                    <a16:creationId xmlns:a16="http://schemas.microsoft.com/office/drawing/2014/main" id="{DE84BBBF-8AB0-4DE6-228B-D22C866D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52" name="Freeform 37">
                <a:extLst>
                  <a:ext uri="{FF2B5EF4-FFF2-40B4-BE49-F238E27FC236}">
                    <a16:creationId xmlns:a16="http://schemas.microsoft.com/office/drawing/2014/main" id="{F987BF1E-2056-DD0B-A96A-8F85DFC5C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54" name="Freeform 38">
                <a:extLst>
                  <a:ext uri="{FF2B5EF4-FFF2-40B4-BE49-F238E27FC236}">
                    <a16:creationId xmlns:a16="http://schemas.microsoft.com/office/drawing/2014/main" id="{403DE626-7474-E710-819A-91E3F4517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6228E03-6538-AF9E-79B5-C48A3A7922EE}"/>
              </a:ext>
            </a:extLst>
          </p:cNvPr>
          <p:cNvSpPr txBox="1"/>
          <p:nvPr/>
        </p:nvSpPr>
        <p:spPr>
          <a:xfrm>
            <a:off x="38221920" y="18379214"/>
            <a:ext cx="93725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  <a:t>If –else-if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CA0E817E-A2DF-6687-122E-8D83FB729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5804374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94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if statement </a:t>
            </a:r>
            <a:r>
              <a:rPr lang="en-IN" sz="16600" b="1" dirty="0">
                <a:solidFill>
                  <a:schemeClr val="bg1"/>
                </a:solidFill>
                <a:latin typeface="Lexend Deca" panose="020B0604020202020204" charset="0"/>
              </a:rPr>
              <a:t>in JavaScript.</a:t>
            </a:r>
            <a:endParaRPr lang="en-IN" sz="166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B654E4-D77C-57E8-99F3-4679D4A82685}"/>
              </a:ext>
            </a:extLst>
          </p:cNvPr>
          <p:cNvGrpSpPr/>
          <p:nvPr/>
        </p:nvGrpSpPr>
        <p:grpSpPr>
          <a:xfrm>
            <a:off x="2334876" y="5176156"/>
            <a:ext cx="23247606" cy="20465608"/>
            <a:chOff x="643236" y="1230069"/>
            <a:chExt cx="5115213" cy="492205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02FBB3-B65F-4BEE-BBF4-BF1040AB96C9}"/>
                </a:ext>
              </a:extLst>
            </p:cNvPr>
            <p:cNvGrpSpPr/>
            <p:nvPr/>
          </p:nvGrpSpPr>
          <p:grpSpPr>
            <a:xfrm>
              <a:off x="643236" y="1230069"/>
              <a:ext cx="5115213" cy="4922052"/>
              <a:chOff x="282865" y="7"/>
              <a:chExt cx="5857551" cy="5883074"/>
            </a:xfrm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EA8B0FB6-4802-CF45-A96D-30F87AE3EED0}"/>
                  </a:ext>
                </a:extLst>
              </p:cNvPr>
              <p:cNvSpPr/>
              <p:nvPr/>
            </p:nvSpPr>
            <p:spPr>
              <a:xfrm rot="16200000">
                <a:off x="270103" y="12769"/>
                <a:ext cx="5883074" cy="5857550"/>
              </a:xfrm>
              <a:prstGeom prst="round2SameRect">
                <a:avLst>
                  <a:gd name="adj1" fmla="val 16670"/>
                  <a:gd name="adj2" fmla="val 0"/>
                </a:avLst>
              </a:prstGeom>
              <a:noFill/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Rectangle: Top Corners Rounded 4">
                <a:extLst>
                  <a:ext uri="{FF2B5EF4-FFF2-40B4-BE49-F238E27FC236}">
                    <a16:creationId xmlns:a16="http://schemas.microsoft.com/office/drawing/2014/main" id="{72536821-5227-31B1-D3CC-9D21C9019284}"/>
                  </a:ext>
                </a:extLst>
              </p:cNvPr>
              <p:cNvSpPr txBox="1"/>
              <p:nvPr/>
            </p:nvSpPr>
            <p:spPr>
              <a:xfrm rot="21600000">
                <a:off x="568859" y="285999"/>
                <a:ext cx="5571557" cy="531108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152400" rIns="137160" bIns="152400" numCol="1" spcCol="1270" anchor="t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400" kern="1200" dirty="0">
                  <a:latin typeface="Lexend Deca" panose="020B0604020202020204" charset="0"/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184022-F9E7-901C-1BD5-C091F1821A3F}"/>
                </a:ext>
              </a:extLst>
            </p:cNvPr>
            <p:cNvSpPr/>
            <p:nvPr/>
          </p:nvSpPr>
          <p:spPr>
            <a:xfrm>
              <a:off x="968593" y="2242038"/>
              <a:ext cx="4785682" cy="21694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Bef>
                  <a:spcPts val="750"/>
                </a:spcBef>
                <a:spcAft>
                  <a:spcPts val="750"/>
                </a:spcAft>
              </a:pPr>
              <a:r>
                <a:rPr lang="en-IN" sz="11500" b="1" dirty="0">
                  <a:solidFill>
                    <a:srgbClr val="000000"/>
                  </a:solidFill>
                  <a:latin typeface="Lexend Deca" panose="020B060402020202020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Syntax:</a:t>
              </a:r>
              <a:endParaRPr lang="en-IN" sz="11500" b="1" dirty="0">
                <a:solidFill>
                  <a:srgbClr val="1F3763"/>
                </a:solidFill>
                <a:latin typeface="Lexend Dec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1500" dirty="0">
                  <a:solidFill>
                    <a:srgbClr val="0000CD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</a:t>
              </a:r>
              <a:r>
                <a:rPr lang="en-IN" sz="11500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(</a:t>
              </a:r>
              <a:r>
                <a:rPr lang="en-IN" sz="11500" i="1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condition</a:t>
              </a:r>
              <a:r>
                <a:rPr lang="en-IN" sz="11500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 {</a:t>
              </a:r>
              <a:br>
                <a:rPr lang="en-IN" sz="11500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IN" sz="9600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 </a:t>
              </a:r>
              <a:r>
                <a:rPr lang="en-IN" sz="9600" dirty="0">
                  <a:solidFill>
                    <a:srgbClr val="008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//</a:t>
              </a:r>
              <a:r>
                <a:rPr lang="en-IN" sz="9600" i="1" dirty="0">
                  <a:solidFill>
                    <a:srgbClr val="008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 block of code to be executed     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9600" i="1" dirty="0">
                  <a:solidFill>
                    <a:srgbClr val="008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//if the condition is true</a:t>
              </a:r>
              <a:br>
                <a:rPr lang="en-IN" sz="9600" i="1" dirty="0">
                  <a:solidFill>
                    <a:srgbClr val="008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IN" sz="11500" dirty="0">
                  <a:solidFill>
                    <a:srgbClr val="000000"/>
                  </a:solidFill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}</a:t>
              </a:r>
              <a:endParaRPr lang="en-IN" sz="11500" dirty="0"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CFAF7502-6028-36B2-67C4-0F27DFA7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5804374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AF0DFD-9A61-F526-3A31-7126EDDD2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7816" y="4526228"/>
            <a:ext cx="20504220" cy="2259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95791" y="3362878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7" name="Rectangle: Top Corners Rounded 4">
            <a:extLst>
              <a:ext uri="{FF2B5EF4-FFF2-40B4-BE49-F238E27FC236}">
                <a16:creationId xmlns:a16="http://schemas.microsoft.com/office/drawing/2014/main" id="{72536821-5227-31B1-D3CC-9D21C9019284}"/>
              </a:ext>
            </a:extLst>
          </p:cNvPr>
          <p:cNvSpPr txBox="1"/>
          <p:nvPr/>
        </p:nvSpPr>
        <p:spPr>
          <a:xfrm>
            <a:off x="3183636" y="5623036"/>
            <a:ext cx="22112545" cy="184758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152400" rIns="137160" bIns="152400" numCol="1" spcCol="1270" anchor="t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400" kern="1200" dirty="0">
              <a:latin typeface="Lexend Dec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E0A13-B106-F917-25A4-4E3C99EC29A2}"/>
              </a:ext>
            </a:extLst>
          </p:cNvPr>
          <p:cNvSpPr/>
          <p:nvPr/>
        </p:nvSpPr>
        <p:spPr>
          <a:xfrm>
            <a:off x="3813558" y="8902591"/>
            <a:ext cx="24315128" cy="1301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750"/>
              </a:spcBef>
              <a:spcAft>
                <a:spcPts val="750"/>
              </a:spcAft>
            </a:pPr>
            <a:r>
              <a:rPr lang="en-IN" sz="11500" b="1" dirty="0">
                <a:solidFill>
                  <a:srgbClr val="000000"/>
                </a:solidFill>
                <a:latin typeface="Lexend Dec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sz="11500" b="1" dirty="0">
              <a:solidFill>
                <a:srgbClr val="1F3763"/>
              </a:solidFill>
              <a:latin typeface="Lexend Deca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500" dirty="0">
                <a:solidFill>
                  <a:srgbClr val="0000CD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(</a:t>
            </a:r>
            <a:r>
              <a:rPr lang="en-IN" sz="11500" i="1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condition</a:t>
            </a:r>
            <a: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b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96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r>
              <a:rPr lang="en-IN" sz="9600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 block of code to be executed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	//if the condition is true</a:t>
            </a:r>
            <a:b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}else{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6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//if the condition is </a:t>
            </a:r>
            <a:r>
              <a:rPr lang="en-IN" sz="9600" i="1" dirty="0" err="1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fasle</a:t>
            </a:r>
            <a:endParaRPr lang="en-IN" sz="9600" dirty="0">
              <a:solidFill>
                <a:srgbClr val="000000"/>
              </a:solidFill>
              <a:latin typeface="Lexend Deca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500" dirty="0"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9342C6-54E2-A470-B6B5-AF14BE7182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939"/>
          <a:stretch/>
        </p:blipFill>
        <p:spPr>
          <a:xfrm>
            <a:off x="24666258" y="4322914"/>
            <a:ext cx="24938168" cy="24123627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FAF7502-6028-36B2-67C4-0F27DFA7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6444791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71;p14">
            <a:extLst>
              <a:ext uri="{FF2B5EF4-FFF2-40B4-BE49-F238E27FC236}">
                <a16:creationId xmlns:a16="http://schemas.microsoft.com/office/drawing/2014/main" id="{97C04E27-170B-2C03-1139-47BB7ED3EA69}"/>
              </a:ext>
            </a:extLst>
          </p:cNvPr>
          <p:cNvSpPr txBox="1">
            <a:spLocks/>
          </p:cNvSpPr>
          <p:nvPr/>
        </p:nvSpPr>
        <p:spPr>
          <a:xfrm>
            <a:off x="5427100" y="548640"/>
            <a:ext cx="35883704" cy="2376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if-else statement in JavaScript.</a:t>
            </a:r>
          </a:p>
        </p:txBody>
      </p:sp>
    </p:spTree>
    <p:extLst>
      <p:ext uri="{BB962C8B-B14F-4D97-AF65-F5344CB8AC3E}">
        <p14:creationId xmlns:p14="http://schemas.microsoft.com/office/powerpoint/2010/main" val="223219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95791" y="3362878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7" name="Rectangle: Top Corners Rounded 4">
            <a:extLst>
              <a:ext uri="{FF2B5EF4-FFF2-40B4-BE49-F238E27FC236}">
                <a16:creationId xmlns:a16="http://schemas.microsoft.com/office/drawing/2014/main" id="{72536821-5227-31B1-D3CC-9D21C9019284}"/>
              </a:ext>
            </a:extLst>
          </p:cNvPr>
          <p:cNvSpPr txBox="1"/>
          <p:nvPr/>
        </p:nvSpPr>
        <p:spPr>
          <a:xfrm>
            <a:off x="3183636" y="5623036"/>
            <a:ext cx="22112545" cy="184758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152400" rIns="137160" bIns="152400" numCol="1" spcCol="1270" anchor="t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400" kern="1200" dirty="0">
              <a:latin typeface="Lexend Dec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E0A13-B106-F917-25A4-4E3C99EC29A2}"/>
              </a:ext>
            </a:extLst>
          </p:cNvPr>
          <p:cNvSpPr/>
          <p:nvPr/>
        </p:nvSpPr>
        <p:spPr>
          <a:xfrm>
            <a:off x="3813558" y="8902591"/>
            <a:ext cx="24315128" cy="14696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750"/>
              </a:spcBef>
              <a:spcAft>
                <a:spcPts val="750"/>
              </a:spcAft>
            </a:pPr>
            <a:r>
              <a:rPr lang="en-IN" sz="11500" b="1" dirty="0">
                <a:solidFill>
                  <a:srgbClr val="000000"/>
                </a:solidFill>
                <a:latin typeface="Lexend Dec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sz="11500" b="1" dirty="0">
              <a:solidFill>
                <a:srgbClr val="1F3763"/>
              </a:solidFill>
              <a:latin typeface="Lexend Deca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500" dirty="0">
                <a:solidFill>
                  <a:srgbClr val="0000CD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(cond1) {</a:t>
            </a:r>
            <a:b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96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r>
              <a:rPr lang="en-IN" sz="9600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 block of code to be executed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	//if the condition is true</a:t>
            </a:r>
            <a:b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15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}else if(cond2){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600" dirty="0">
                <a:solidFill>
                  <a:srgbClr val="000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9600" i="1" dirty="0">
                <a:solidFill>
                  <a:srgbClr val="008000"/>
                </a:solidFill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//if the condition is false</a:t>
            </a:r>
            <a:endParaRPr lang="en-IN" sz="9600" dirty="0">
              <a:solidFill>
                <a:srgbClr val="000000"/>
              </a:solidFill>
              <a:latin typeface="Lexend Deca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500" dirty="0"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}else{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500" dirty="0">
                <a:latin typeface="Lexend Deca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Google Shape;71;p14">
            <a:extLst>
              <a:ext uri="{FF2B5EF4-FFF2-40B4-BE49-F238E27FC236}">
                <a16:creationId xmlns:a16="http://schemas.microsoft.com/office/drawing/2014/main" id="{97C04E27-170B-2C03-1139-47BB7ED3EA69}"/>
              </a:ext>
            </a:extLst>
          </p:cNvPr>
          <p:cNvSpPr txBox="1">
            <a:spLocks/>
          </p:cNvSpPr>
          <p:nvPr/>
        </p:nvSpPr>
        <p:spPr>
          <a:xfrm>
            <a:off x="5427100" y="548640"/>
            <a:ext cx="35883704" cy="2376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algn="ctr"/>
            <a:r>
              <a:rPr lang="en-IN" sz="13800" dirty="0">
                <a:solidFill>
                  <a:schemeClr val="bg1"/>
                </a:solidFill>
                <a:latin typeface="Lexend Deca" panose="020B0604020202020204" charset="0"/>
              </a:rPr>
              <a:t>if-else-if statement in JavaScript.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E10A6-846B-9E00-15EA-C89417F993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763" t="11479" r="2763" b="27247"/>
          <a:stretch/>
        </p:blipFill>
        <p:spPr>
          <a:xfrm>
            <a:off x="23368952" y="4007756"/>
            <a:ext cx="28765363" cy="24720898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FAF7502-6028-36B2-67C4-0F27DFA7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329" y="26444791"/>
            <a:ext cx="384569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85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4135</TotalTime>
  <Words>242</Words>
  <Application>Microsoft Office PowerPoint</Application>
  <PresentationFormat>Custom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Lexend Deca\</vt:lpstr>
      <vt:lpstr>Calibri</vt:lpstr>
      <vt:lpstr>Lexend Deca</vt:lpstr>
      <vt:lpstr>Muli</vt:lpstr>
      <vt:lpstr>Arial</vt:lpstr>
      <vt:lpstr>Aliena template</vt:lpstr>
      <vt:lpstr>JavaScript  (conditional statements)</vt:lpstr>
      <vt:lpstr>Our Agenda.</vt:lpstr>
      <vt:lpstr>What are conditional statements?</vt:lpstr>
      <vt:lpstr>Types of conditional statements in JavaScript.</vt:lpstr>
      <vt:lpstr>if statement in JavaScript.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Bhagirath</cp:lastModifiedBy>
  <cp:revision>214</cp:revision>
  <dcterms:modified xsi:type="dcterms:W3CDTF">2022-12-09T07:04:18Z</dcterms:modified>
</cp:coreProperties>
</file>